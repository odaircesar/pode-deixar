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Pode Deixar: o nome é a resposta que uma boa secretária dá quando recebe uma tarefa, e se repete na própria conversa com o dono. Objetivo da reunião: apresentar a oportunidade, a solução e o plano de construção, e sair com quatro decisões (último slide).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canal já existe e é universal; o que falta é organização. A maioria dos pequenos negócios não usa sistema de gestão de clientes: o conhecimento está na cabeça do dono e no histórico do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Faixa salarial do cargo segundo a mesma fonte: piso de R$ 1.723,56 e teto de R$ 2.300,00, sem contar encargos trabalhistas.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ilustrativo de um dia comum numa oficina. O ponto não é a tecnologia: é o dono delegar uma tarefa inteira em uma frase, sem abrir sistema algum.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princípios respondem às três objeções mais comuns a ferramentas de gestão: dá trabalho para implantar, não se adapta ao meu negócio e vive mandando notificação inútil.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Guardar informação qualquer sistema guarda. O valor percebido pelo cliente está em usar a informação certa no momento certo, sem gerar ruído. É isso que faz a ferramenta parecer uma pessoa competente.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Questionários longos têm baixa adesão em pequenos negócios. A estratégia é aprender pelo uso e fazer poucas perguntas, sempre no momento em que a resposta é necessária para uma tarefa.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separação evita o pior erro de uma assistente com memória: tratar um palpite como fato e agir com base nele. Também facilita a conformidade com a LGPD, porque cada dado tem origem rastreável.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ai-memory é mantido por Fabio Akita (github.com/akitaonrails/ai-memory) e lista o OpenClaw como plataforma suportada. A camada própria fica desacoplada das duas ferramentas, o que permite trocá-las no futuro sem reescrever 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infraestrutura de agente e de memória já existe e é mantida por comunidades ativas. Reconstruí-la seria caro e não diferenciaria o produto. O valor está em entender pequenos negócios e pessoas.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camada também define como as conversas de WhatsApp viram registros de memória (por conversa, por dia ou por tarefa) e aplica as regras de privacidade antes de qualquer gravação. É aqui que está a propriedade intelectual do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proposta é ocupar o espaço entre o chatbot barato e limitado e o funcionário competente e caro: custo de software com comportamento de assistente que conhece o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preço deve ficar claramente abaixo do custo de um funcionário e cobrir com folga o custo variável por cliente, que depende principalmente do volume de chamadas ao modelo de IA. Essa conta será medida no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risco de canal é o mais sensível: integrações não oficiais ao WhatsApp podem levar ao bloqueio do número. Para clientes pagantes, a API oficial é o caminho seguro.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Critério para passar do piloto ao lançamento: a assistente resolve a maior parte das tarefas sem intervenção do dono e os negócios do piloto querem continuar pagando. As metas numéricas serão definidas antes do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Recomendação para o canal de voz: começar com áudios, que o OpenClaw já suporta no WhatsApp. Ligação em tempo real exige integração com telefonia (Twilio, Telnyx ou Plivo), e a chamada pelo próprio WhatsApp ainda é experimental.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56320"/>
            <a:ext cx="98425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024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08101"/>
            <a:ext cx="10566400" cy="3937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356320"/>
            <a:ext cx="9842500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0241F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108101"/>
            <a:ext cx="10566400" cy="3937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47000" y="1587500"/>
            <a:ext cx="3429000" cy="812800"/>
          </a:xfrm>
          <a:prstGeom prst="roundRect">
            <a:avLst>
              <a:gd name="adj" fmla="val 50000"/>
            </a:avLst>
          </a:prstGeom>
          <a:solidFill>
            <a:srgbClr val="1C3A33"/>
          </a:solidFill>
          <a:ln/>
        </p:spPr>
      </p:sp>
      <p:sp>
        <p:nvSpPr>
          <p:cNvPr id="3" name="Shape 1"/>
          <p:cNvSpPr/>
          <p:nvPr/>
        </p:nvSpPr>
        <p:spPr>
          <a:xfrm>
            <a:off x="8445500" y="2667000"/>
            <a:ext cx="2730500" cy="812800"/>
          </a:xfrm>
          <a:prstGeom prst="roundRect">
            <a:avLst>
              <a:gd name="adj" fmla="val 50000"/>
            </a:avLst>
          </a:prstGeom>
          <a:solidFill>
            <a:srgbClr val="C2532B"/>
          </a:solidFill>
          <a:ln/>
        </p:spPr>
      </p:sp>
      <p:sp>
        <p:nvSpPr>
          <p:cNvPr id="4" name="Shape 2"/>
          <p:cNvSpPr/>
          <p:nvPr/>
        </p:nvSpPr>
        <p:spPr>
          <a:xfrm>
            <a:off x="7366000" y="3746500"/>
            <a:ext cx="3175000" cy="812800"/>
          </a:xfrm>
          <a:prstGeom prst="roundRect">
            <a:avLst>
              <a:gd name="adj" fmla="val 50000"/>
            </a:avLst>
          </a:prstGeom>
          <a:solidFill>
            <a:srgbClr val="1C3A33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185678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200" kern="0" dirty="0">
                <a:solidFill>
                  <a:srgbClr val="F08A5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PROPOSTA · OUTUBRO DE 2026</a:t>
            </a:r>
            <a:endParaRPr lang="en-US" sz="13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812800" y="2316460"/>
            <a:ext cx="640969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800"/>
              </a:lnSpc>
              <a:buNone/>
            </a:pPr>
            <a:r>
              <a:rPr lang="en-US" sz="6800" b="1" i="0" dirty="0">
                <a:solidFill>
                  <a:srgbClr val="F5F2E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Pode Deixar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812800" y="3408660"/>
            <a:ext cx="6409690" cy="784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90"/>
              </a:lnSpc>
              <a:buNone/>
            </a:pPr>
            <a:r>
              <a:rPr lang="en-US" sz="2600" dirty="0">
                <a:solidFill>
                  <a:srgbClr val="F08A5D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Uma assistente executiva de IA para cada pequeno negócio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12800" y="4396680"/>
            <a:ext cx="6409690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B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 pelo WhatsApp, aprende o negócio e assume a rotina administrativa.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4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MERCADO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432520"/>
            <a:ext cx="9810750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O pequeno negócio brasileiro opera pelo WhatsApp — e quase sem sistemas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745581"/>
            <a:ext cx="3318867" cy="0"/>
          </a:xfrm>
          <a:prstGeom prst="line">
            <a:avLst/>
          </a:prstGeom>
          <a:noFill/>
          <a:ln w="25400">
            <a:solidFill>
              <a:srgbClr val="A944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961481"/>
            <a:ext cx="341843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102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24 mi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12800" y="3748881"/>
            <a:ext cx="3418433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pequenos negócios ativos no Brasil, entre MEI, micro e pequenas empresas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6467" y="2745581"/>
            <a:ext cx="3318966" cy="0"/>
          </a:xfrm>
          <a:prstGeom prst="line">
            <a:avLst/>
          </a:prstGeom>
          <a:noFill/>
          <a:ln w="25400">
            <a:solidFill>
              <a:srgbClr val="A944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6467" y="2961481"/>
            <a:ext cx="3418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102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8 em 10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436467" y="3748881"/>
            <a:ext cx="3418535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pequenos negócios de serviço têm no WhatsApp o principal canal com clientes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60234" y="2745581"/>
            <a:ext cx="3318966" cy="0"/>
          </a:xfrm>
          <a:prstGeom prst="line">
            <a:avLst/>
          </a:prstGeom>
          <a:noFill/>
          <a:ln w="25400">
            <a:solidFill>
              <a:srgbClr val="A944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0234" y="2961481"/>
            <a:ext cx="3418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102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6%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060234" y="3748881"/>
            <a:ext cx="3418535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citam um CRM entre suas ferramentas de relacionamento (média nacional)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94837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Fontes: Sebrae — CNPJs ativos, 4º tri/2025; Sebrae — Pesquisa Serviço 2025, mais de 1.300 negócios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4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81720"/>
            <a:ext cx="981075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Toda a rotina administrativa passa pelo dono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187476"/>
            <a:ext cx="2520950" cy="1883172"/>
          </a:xfrm>
          <a:prstGeom prst="roundRect">
            <a:avLst>
              <a:gd name="adj" fmla="val 5227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</p:sp>
      <p:pic>
        <p:nvPicPr>
          <p:cNvPr id="5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2419251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2812951"/>
            <a:ext cx="211912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Atendimento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47750" y="3145631"/>
            <a:ext cx="2119122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Responder clientes, confirmar e remarcar horários.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495675" y="2187476"/>
            <a:ext cx="2520950" cy="1883172"/>
          </a:xfrm>
          <a:prstGeom prst="roundRect">
            <a:avLst>
              <a:gd name="adj" fmla="val 5227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</p:sp>
      <p:pic>
        <p:nvPicPr>
          <p:cNvPr id="9" name="Image 1" descr="Clo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27450" y="2419251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27450" y="2812951"/>
            <a:ext cx="211912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Agenda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727450" y="3145631"/>
            <a:ext cx="211912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Organizar compromissos do dono e da equipe.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75375" y="2187476"/>
            <a:ext cx="2520950" cy="1883172"/>
          </a:xfrm>
          <a:prstGeom prst="roundRect">
            <a:avLst>
              <a:gd name="adj" fmla="val 5227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</p:sp>
      <p:pic>
        <p:nvPicPr>
          <p:cNvPr id="13" name="Image 2" descr="Wren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7150" y="2419251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7150" y="2812951"/>
            <a:ext cx="211912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Compras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7150" y="3145631"/>
            <a:ext cx="2119122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Repor insumos, cotar e fazer pedidos a fornecedores.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855075" y="2187476"/>
            <a:ext cx="2520950" cy="1883172"/>
          </a:xfrm>
          <a:prstGeom prst="roundRect">
            <a:avLst>
              <a:gd name="adj" fmla="val 5227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</p:sp>
      <p:pic>
        <p:nvPicPr>
          <p:cNvPr id="17" name="Image 3" descr="User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86850" y="2419251"/>
            <a:ext cx="3048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86850" y="2812951"/>
            <a:ext cx="211912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Relacionamento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086850" y="3145631"/>
            <a:ext cx="2119122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Lembrar histórico, preferências e pendências de cada cliente.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12800" y="4429423"/>
            <a:ext cx="10137775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Uma recepcionista custa, em média, </a:t>
            </a:r>
            <a:r>
              <a:rPr lang="en-US" sz="1700" b="1" dirty="0">
                <a:solidFill>
                  <a:srgbClr val="A94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R$ 1.898 por mês</a:t>
            </a:r>
            <a:r>
              <a:rPr lang="en-US" sz="17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só de salário — antes de encargos e benefícios. Para a maioria dos pequenos negócios, a conta não fecha.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812800" y="6238280"/>
            <a:ext cx="94837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Fonte: Novo CAGED (out/2026), via Salario.com.br — recepcionista-secretária, 43 horas semanais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72518"/>
            <a:ext cx="64096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4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039838"/>
            <a:ext cx="6409690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Uma assistente de IA que trabalha pelo WhatsApp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5500" y="3187799"/>
            <a:ext cx="0" cy="512961"/>
          </a:xfrm>
          <a:prstGeom prst="line">
            <a:avLst/>
          </a:prstGeom>
          <a:noFill/>
          <a:ln w="254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3187799"/>
            <a:ext cx="622655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Recebe instruções em linguagem natural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0600" y="3469680"/>
            <a:ext cx="622655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Texto ou áudio, do jeito que o dono já se comunica com a equipe.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5500" y="3878560"/>
            <a:ext cx="0" cy="512961"/>
          </a:xfrm>
          <a:prstGeom prst="line">
            <a:avLst/>
          </a:prstGeom>
          <a:noFill/>
          <a:ln w="254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0600" y="3878560"/>
            <a:ext cx="622655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Executa de ponta a ponta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4160441"/>
            <a:ext cx="622655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Agenda, responde, cota, faz pedidos e paga, dentro de limites autorizados.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5500" y="4569321"/>
            <a:ext cx="0" cy="512961"/>
          </a:xfrm>
          <a:prstGeom prst="line">
            <a:avLst/>
          </a:prstGeom>
          <a:noFill/>
          <a:ln w="254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" y="4569321"/>
            <a:ext cx="622655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Aprende o negócio com o uso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0600" y="4851202"/>
            <a:ext cx="622655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Clientes, fornecedores, preferências e regras da casa.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42200" y="1503859"/>
            <a:ext cx="3937000" cy="3647083"/>
          </a:xfrm>
          <a:prstGeom prst="roundRect">
            <a:avLst>
              <a:gd name="adj" fmla="val 5572"/>
            </a:avLst>
          </a:prstGeom>
          <a:solidFill>
            <a:srgbClr val="E6DFD0"/>
          </a:solidFill>
          <a:ln/>
        </p:spPr>
      </p:sp>
      <p:sp>
        <p:nvSpPr>
          <p:cNvPr id="14" name="Text 12"/>
          <p:cNvSpPr/>
          <p:nvPr/>
        </p:nvSpPr>
        <p:spPr>
          <a:xfrm>
            <a:off x="7645400" y="1707059"/>
            <a:ext cx="36365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Oficina mecânica · exemplo ilustrativo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91500" y="2021979"/>
            <a:ext cx="2984500" cy="655241"/>
          </a:xfrm>
          <a:prstGeom prst="roundRect">
            <a:avLst>
              <a:gd name="adj" fmla="val 19382"/>
            </a:avLst>
          </a:prstGeom>
          <a:solidFill>
            <a:srgbClr val="CBE6D2"/>
          </a:solidFill>
          <a:ln/>
        </p:spPr>
        <p:txBody>
          <a:bodyPr wrap="square" lIns="115203" tIns="77103" rIns="34812" bIns="51703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Preciso de pastilhas de freio para a revisão de amanhã.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45400" y="2778820"/>
            <a:ext cx="2984500" cy="868561"/>
          </a:xfrm>
          <a:prstGeom prst="roundRect">
            <a:avLst>
              <a:gd name="adj" fmla="val 14622"/>
            </a:avLst>
          </a:prstGeom>
          <a:solidFill>
            <a:srgbClr val="FFFCF6"/>
          </a:solidFill>
          <a:ln/>
        </p:spPr>
        <p:txBody>
          <a:bodyPr wrap="square" lIns="115203" tIns="77103" rIns="34812" bIns="51703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Cotei nos seus fornecedores. O mais rápido entrega amanhã às 8h, por R$ [__]. Posso fechar?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00655" y="3748980"/>
            <a:ext cx="1175345" cy="441920"/>
          </a:xfrm>
          <a:prstGeom prst="roundRect">
            <a:avLst>
              <a:gd name="adj" fmla="val 28738"/>
            </a:avLst>
          </a:prstGeom>
          <a:solidFill>
            <a:srgbClr val="CBE6D2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Pode fechar.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45400" y="4292501"/>
            <a:ext cx="2984500" cy="655241"/>
          </a:xfrm>
          <a:prstGeom prst="roundRect">
            <a:avLst>
              <a:gd name="adj" fmla="val 19382"/>
            </a:avLst>
          </a:prstGeom>
          <a:solidFill>
            <a:srgbClr val="FFFCF6"/>
          </a:solidFill>
          <a:ln/>
        </p:spPr>
        <p:txBody>
          <a:bodyPr wrap="square" lIns="115203" tIns="77103" rIns="34812" bIns="51703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Pode deixar. Pedido pago dentro do seu limite e o mecânico já foi avisado.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4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PRINCÍPIOS DE PRODUTO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81720"/>
            <a:ext cx="981075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Três regras que guiam cada decisão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187476"/>
            <a:ext cx="3380284" cy="2769394"/>
          </a:xfrm>
          <a:prstGeom prst="roundRect">
            <a:avLst>
              <a:gd name="adj" fmla="val 3554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" y="2470051"/>
            <a:ext cx="289958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A94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8550" y="3003451"/>
            <a:ext cx="2899588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Pronta no primeiro dia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8550" y="3404691"/>
            <a:ext cx="2899588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 cadastro, planilha ou implantação. Funciona desde a primeira mensagem e pergunta só o que precisa saber.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09" y="2187476"/>
            <a:ext cx="3380383" cy="2769394"/>
          </a:xfrm>
          <a:prstGeom prst="roundRect">
            <a:avLst>
              <a:gd name="adj" fmla="val 3554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8384" y="2470051"/>
            <a:ext cx="289969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A94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88384" y="3003451"/>
            <a:ext cx="2899690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Aprende com o uso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88384" y="3404691"/>
            <a:ext cx="2899690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tarefa amplia o conhecimento sobre o negócio, os clientes e a forma de trabalhar do dono.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741" y="2187476"/>
            <a:ext cx="3380284" cy="2769394"/>
          </a:xfrm>
          <a:prstGeom prst="roundRect">
            <a:avLst>
              <a:gd name="adj" fmla="val 3554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8316" y="2470051"/>
            <a:ext cx="2899588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A94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78316" y="3003451"/>
            <a:ext cx="2899588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Proatividade com critério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78316" y="3678932"/>
            <a:ext cx="2899588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Intervém quando há motivo concreto: um conflito, um risco, um prazo. Fora isso, não interrompe.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A94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5047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D9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DIFERENCIAL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968599"/>
            <a:ext cx="10137775" cy="1198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620"/>
              </a:lnSpc>
              <a:buNone/>
            </a:pPr>
            <a:r>
              <a:rPr lang="en-US" sz="4200" b="1" i="0" dirty="0">
                <a:solidFill>
                  <a:srgbClr val="FFF6EE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Saber muito não basta. É preciso saber a hora de falar.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812800" y="3446760"/>
            <a:ext cx="9525000" cy="1757462"/>
          </a:xfrm>
          <a:prstGeom prst="roundRect">
            <a:avLst>
              <a:gd name="adj" fmla="val 7226"/>
            </a:avLst>
          </a:prstGeom>
          <a:solidFill>
            <a:srgbClr val="8A3517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3726160"/>
            <a:ext cx="91828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FD9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EXEMPLO · SALÃO DE BELEZA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600" y="4041080"/>
            <a:ext cx="9182862" cy="90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FF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ficha de uma cliente registra alergia a um componente de coloração. A assistente não repete isso em toda conversa: o alerta aparece para a profissional </a:t>
            </a:r>
            <a:r>
              <a:rPr lang="en-US" sz="1600" b="1" dirty="0">
                <a:solidFill>
                  <a:srgbClr val="FFF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somente quando essa cliente agenda uma coloração</a:t>
            </a:r>
            <a:r>
              <a:rPr lang="en-US" sz="1600" dirty="0">
                <a:solidFill>
                  <a:srgbClr val="FFF6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D9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4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4720"/>
            <a:ext cx="981075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Integração por conversa, não por formulário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930301"/>
            <a:ext cx="1046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assistente conduz conversas curtas e completa o que falta durante o próprio trabalho.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2428776"/>
            <a:ext cx="3414117" cy="1459012"/>
          </a:xfrm>
          <a:prstGeom prst="roundRect">
            <a:avLst>
              <a:gd name="adj" fmla="val 6746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350" y="2635151"/>
            <a:ext cx="30914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94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Primeira semana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2350" y="2911971"/>
            <a:ext cx="309140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Forma de trabalhar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2350" y="3219252"/>
            <a:ext cx="309140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Nível de autonomia, limites de gasto, urgências e horários.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8842" y="2428776"/>
            <a:ext cx="3414216" cy="1459012"/>
          </a:xfrm>
          <a:prstGeom prst="roundRect">
            <a:avLst>
              <a:gd name="adj" fmla="val 6746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5217" y="2635151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94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Uso diário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95217" y="2911971"/>
            <a:ext cx="309151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Pessoas e rotina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5217" y="3219252"/>
            <a:ext cx="309151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Clientes, fornecedores e equipe, conforme surgem nas tarefas.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61809" y="2428776"/>
            <a:ext cx="3414216" cy="1459012"/>
          </a:xfrm>
          <a:prstGeom prst="roundRect">
            <a:avLst>
              <a:gd name="adj" fmla="val 6746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8184" y="2635151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94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Contínuo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68184" y="2911971"/>
            <a:ext cx="309151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Padrões confirmados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68184" y="3219252"/>
            <a:ext cx="309151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Um comportamento recorrente só vira regra depois que o dono confirma.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4119562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Antes de perguntar, cada dúvida passa por três filtros: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5975" y="4582418"/>
            <a:ext cx="2775049" cy="39747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Utilidade</a:t>
            </a:r>
            <a:r>
              <a:rPr lang="en-US" sz="12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ajuda numa tarefa real?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98974" y="4582418"/>
            <a:ext cx="2757785" cy="39747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Incerteza</a:t>
            </a:r>
            <a:r>
              <a:rPr lang="en-US" sz="12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ela já sabe a resposta?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64709" y="4582418"/>
            <a:ext cx="2768302" cy="397470"/>
          </a:xfrm>
          <a:prstGeom prst="roundRect">
            <a:avLst>
              <a:gd name="adj" fmla="val 50000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Momento</a:t>
            </a:r>
            <a:r>
              <a:rPr lang="en-US" sz="12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é a hora de perguntar?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4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MEMÓRIA CONFIÁVEL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05520"/>
            <a:ext cx="981075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Fato não se mistura com suposição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44601"/>
          <a:ext cx="10553700" cy="2450703"/>
        </p:xfrm>
        <a:graphic>
          <a:graphicData uri="http://schemas.openxmlformats.org/drawingml/2006/table">
            <a:tbl>
              <a:tblPr/>
              <a:tblGrid>
                <a:gridCol w="2321814"/>
                <a:gridCol w="8231886"/>
              </a:tblGrid>
              <a:tr h="4901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Tipo de registro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5F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Exemplo · clínica odontológica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1F"/>
                    </a:solidFill>
                  </a:tcPr>
                </a:tc>
              </a:tr>
              <a:tr h="4901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Declarado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“Não marque procedimentos longos às sextas à tarde.”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</a:tr>
              <a:tr h="4901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Observado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 paciente remarcou as três últimas consultas marcadas pela manhã.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</a:tr>
              <a:tr h="4901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Hipótese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Ela prefere horários à tarde — ainda não confirmado.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</a:tr>
              <a:tr h="49014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Regra de ação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Oferecer a tarde primeiro e confirmar a preferência na próxima conversa.</a:t>
                      </a:r>
                      <a:endParaRPr lang="en-US" sz="14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77800" marR="177800" marT="114300" marB="1143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774704"/>
            <a:ext cx="104648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registro guarda origem, data e grau de confiança, e o dono pode corrigi-lo. Aprender nunca amplia permissões: autonomia para gastar é concedida, não deduzida.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4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Arquitetura em três camadas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085876"/>
            <a:ext cx="2371725" cy="2848273"/>
          </a:xfrm>
          <a:prstGeom prst="roundRect">
            <a:avLst>
              <a:gd name="adj" fmla="val 4150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</p:sp>
      <p:pic>
        <p:nvPicPr>
          <p:cNvPr id="5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2317651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2724051"/>
            <a:ext cx="19654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WhatsApp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47750" y="3069431"/>
            <a:ext cx="19654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Canal do dono e dos clientes, em texto e áudio.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47750" y="4387453"/>
            <a:ext cx="603052" cy="314920"/>
          </a:xfrm>
          <a:prstGeom prst="roundRect">
            <a:avLst>
              <a:gd name="adj" fmla="val 50000"/>
            </a:avLst>
          </a:prstGeom>
          <a:solidFill>
            <a:srgbClr val="E6DFD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canal</a:t>
            </a:r>
            <a:endParaRPr lang="en-US" sz="1200" dirty="0"/>
          </a:p>
        </p:txBody>
      </p:sp>
      <p:pic>
        <p:nvPicPr>
          <p:cNvPr id="9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59125" y="3471863"/>
            <a:ext cx="419100" cy="76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49650" y="2085876"/>
            <a:ext cx="2371725" cy="2848273"/>
          </a:xfrm>
          <a:prstGeom prst="roundRect">
            <a:avLst>
              <a:gd name="adj" fmla="val 4150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</p:sp>
      <p:pic>
        <p:nvPicPr>
          <p:cNvPr id="11" name="Image 2" descr="Tool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81425" y="2317651"/>
            <a:ext cx="304800" cy="304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81425" y="2724051"/>
            <a:ext cx="19654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OpenClaw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3781425" y="3069431"/>
            <a:ext cx="196542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Agente que executa: mensagens, agenda, pedidos e pagamentos.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781425" y="4387453"/>
            <a:ext cx="1110456" cy="314920"/>
          </a:xfrm>
          <a:prstGeom prst="roundRect">
            <a:avLst>
              <a:gd name="adj" fmla="val 50000"/>
            </a:avLst>
          </a:prstGeom>
          <a:solidFill>
            <a:srgbClr val="E6DFD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source</a:t>
            </a:r>
            <a:endParaRPr lang="en-US" sz="1200" dirty="0"/>
          </a:p>
        </p:txBody>
      </p:sp>
      <p:pic>
        <p:nvPicPr>
          <p:cNvPr id="15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92800" y="3471863"/>
            <a:ext cx="419100" cy="762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80150" y="2082701"/>
            <a:ext cx="2365375" cy="2854623"/>
          </a:xfrm>
          <a:prstGeom prst="roundRect">
            <a:avLst>
              <a:gd name="adj" fmla="val 4295"/>
            </a:avLst>
          </a:prstGeom>
          <a:solidFill>
            <a:srgbClr val="10241F"/>
          </a:solidFill>
          <a:ln/>
        </p:spPr>
      </p:sp>
      <p:pic>
        <p:nvPicPr>
          <p:cNvPr id="17" name="Image 4" descr="Lightbulb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508750" y="2311301"/>
            <a:ext cx="304800" cy="3048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508750" y="2717701"/>
            <a:ext cx="1965420" cy="756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Camada de Inteligência Pessoal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6508750" y="3550642"/>
            <a:ext cx="196542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Entende pessoas, escolhe o contexto e decide quando agir.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6508750" y="4393803"/>
            <a:ext cx="1066205" cy="314920"/>
          </a:xfrm>
          <a:prstGeom prst="roundRect">
            <a:avLst>
              <a:gd name="adj" fmla="val 50000"/>
            </a:avLst>
          </a:prstGeom>
          <a:solidFill>
            <a:srgbClr val="F08A5D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proprietário</a:t>
            </a:r>
            <a:endParaRPr lang="en-US" sz="1200" dirty="0"/>
          </a:p>
        </p:txBody>
      </p:sp>
      <p:pic>
        <p:nvPicPr>
          <p:cNvPr id="21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13775" y="3471863"/>
            <a:ext cx="419100" cy="7620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004300" y="2085876"/>
            <a:ext cx="2371725" cy="2848273"/>
          </a:xfrm>
          <a:prstGeom prst="roundRect">
            <a:avLst>
              <a:gd name="adj" fmla="val 4150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</p:sp>
      <p:pic>
        <p:nvPicPr>
          <p:cNvPr id="23" name="Image 6" descr="Databa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236075" y="2317651"/>
            <a:ext cx="304800" cy="3048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236075" y="2724051"/>
            <a:ext cx="19654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ai-memory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9236075" y="3069431"/>
            <a:ext cx="196542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Memória persistente: guarda, organiza e recupera o conhecimento.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9236075" y="4387453"/>
            <a:ext cx="1471017" cy="314920"/>
          </a:xfrm>
          <a:prstGeom prst="roundRect">
            <a:avLst>
              <a:gd name="adj" fmla="val 50000"/>
            </a:avLst>
          </a:prstGeom>
          <a:solidFill>
            <a:srgbClr val="E6DFD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source · MIT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812800" y="5242123"/>
            <a:ext cx="10464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OpenClaw e ai-memory já têm integração oficial entre si (MCP e plugin nativo). Desenvolvemos a camada do meio.</a:t>
            </a:r>
            <a:endParaRPr lang="en-US" sz="1300" dirty="0"/>
          </a:p>
        </p:txBody>
      </p:sp>
      <p:sp>
        <p:nvSpPr>
          <p:cNvPr id="28" name="Text 19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4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ESTRATÉGIA DE CONSTRUÇÃO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46480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Construímos apenas o que nos diferencia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984276"/>
            <a:ext cx="5181600" cy="3057525"/>
          </a:xfrm>
          <a:prstGeom prst="roundRect">
            <a:avLst>
              <a:gd name="adj" fmla="val 3219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241451"/>
            <a:ext cx="48072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7D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REUTILIZAMOS · OPEN SOURCE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556371"/>
            <a:ext cx="480726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OpenClaw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64844" y="2901752"/>
            <a:ext cx="4707953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306" indent="-16230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Agente autônomo rodando em segundo plano</a:t>
            </a:r>
            <a:endParaRPr lang="en-US" sz="1300" dirty="0"/>
          </a:p>
          <a:p>
            <a:pPr algn="l" marL="162306" indent="-16230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Canal de WhatsApp e outros mensageiros</a:t>
            </a:r>
            <a:endParaRPr lang="en-US" sz="1300" dirty="0"/>
          </a:p>
          <a:p>
            <a:pPr algn="l" marL="162306" indent="-16230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Plugins de ferramentas e de chamadas de voz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3150" y="3721298"/>
            <a:ext cx="480726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ai-memory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64844" y="4066679"/>
            <a:ext cx="4707953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306" indent="-16230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Memória persistente em markdown, auditável</a:t>
            </a:r>
            <a:endParaRPr lang="en-US" sz="1300" dirty="0"/>
          </a:p>
          <a:p>
            <a:pPr algn="l" marL="162306" indent="-16230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Captura e busca sem custo de LLM por padrão</a:t>
            </a:r>
            <a:endParaRPr lang="en-US" sz="1300" dirty="0"/>
          </a:p>
          <a:p>
            <a:pPr algn="l" marL="162306" indent="-16230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Multiusuário, com licença MIT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03950" y="1981101"/>
            <a:ext cx="5175250" cy="3063875"/>
          </a:xfrm>
          <a:prstGeom prst="roundRect">
            <a:avLst>
              <a:gd name="adj" fmla="val 3316"/>
            </a:avLst>
          </a:prstGeom>
          <a:solidFill>
            <a:srgbClr val="10241F"/>
          </a:solidFill>
          <a:ln/>
        </p:spPr>
      </p:sp>
      <p:sp>
        <p:nvSpPr>
          <p:cNvPr id="11" name="Text 9"/>
          <p:cNvSpPr/>
          <p:nvPr/>
        </p:nvSpPr>
        <p:spPr>
          <a:xfrm>
            <a:off x="6457950" y="2235101"/>
            <a:ext cx="48072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08A5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DESENVOLVEMOS · PROPRIEDADE NOSSA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9070" y="2550021"/>
            <a:ext cx="4728527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Modelo de pessoas e relacionamentos do negócio</a:t>
            </a:r>
            <a:endParaRPr lang="en-US" sz="1500" dirty="0"/>
          </a:p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Onboarding conversacional</a:t>
            </a:r>
            <a:endParaRPr lang="en-US" sz="1500" dirty="0"/>
          </a:p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Decisão de quando agir e quando intervir</a:t>
            </a:r>
            <a:endParaRPr lang="en-US" sz="1500" dirty="0"/>
          </a:p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Regras de privacidade para dados de clientes</a:t>
            </a:r>
            <a:endParaRPr lang="en-US" sz="1500" dirty="0"/>
          </a:p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Limites de autonomia e de pagamento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5298976"/>
            <a:ext cx="1046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Resultado: </a:t>
            </a:r>
            <a:r>
              <a:rPr lang="en-US" sz="1500" b="1" dirty="0">
                <a:solidFill>
                  <a:srgbClr val="A94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menos tempo e capital até o primeiro piloto</a:t>
            </a:r>
            <a:r>
              <a:rPr lang="en-US" sz="15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com o esforço concentrado no diferencial.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8A5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NOSSO NÚCLEO PROPRIETÁRIO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5F2E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Camada de Inteligência Pessoal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82701"/>
            <a:ext cx="5207000" cy="1305421"/>
          </a:xfrm>
          <a:prstGeom prst="roundRect">
            <a:avLst>
              <a:gd name="adj" fmla="val 7783"/>
            </a:avLst>
          </a:prstGeom>
          <a:solidFill>
            <a:srgbClr val="1C3A33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336701"/>
            <a:ext cx="483997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Módulo de onboarding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66800" y="2671961"/>
            <a:ext cx="483997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Conduz a integração por conversa e escolhe a próxima pergunta.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2082701"/>
            <a:ext cx="5207000" cy="1305421"/>
          </a:xfrm>
          <a:prstGeom prst="roundRect">
            <a:avLst>
              <a:gd name="adj" fmla="val 7783"/>
            </a:avLst>
          </a:prstGeom>
          <a:solidFill>
            <a:srgbClr val="1C3A33"/>
          </a:solidFill>
          <a:ln/>
        </p:spPr>
      </p:sp>
      <p:sp>
        <p:nvSpPr>
          <p:cNvPr id="8" name="Text 6"/>
          <p:cNvSpPr/>
          <p:nvPr/>
        </p:nvSpPr>
        <p:spPr>
          <a:xfrm>
            <a:off x="6426200" y="2336701"/>
            <a:ext cx="483997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Modelo de perfis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26200" y="2671961"/>
            <a:ext cx="483997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Representa dono, clientes, fornecedores e equipe, com fatos, hipóteses e regras.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" y="3540522"/>
            <a:ext cx="5207000" cy="1305421"/>
          </a:xfrm>
          <a:prstGeom prst="roundRect">
            <a:avLst>
              <a:gd name="adj" fmla="val 7783"/>
            </a:avLst>
          </a:prstGeom>
          <a:solidFill>
            <a:srgbClr val="1C3A33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3794522"/>
            <a:ext cx="483997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Motor de contexto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66800" y="4129782"/>
            <a:ext cx="483997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Antes de cada ação, recupera o que é relevante e decide se deve intervir.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3540522"/>
            <a:ext cx="5207000" cy="1305421"/>
          </a:xfrm>
          <a:prstGeom prst="roundRect">
            <a:avLst>
              <a:gd name="adj" fmla="val 7783"/>
            </a:avLst>
          </a:prstGeom>
          <a:solidFill>
            <a:srgbClr val="1C3A33"/>
          </a:solidFill>
          <a:ln/>
        </p:spPr>
      </p:sp>
      <p:sp>
        <p:nvSpPr>
          <p:cNvPr id="14" name="Text 12"/>
          <p:cNvSpPr/>
          <p:nvPr/>
        </p:nvSpPr>
        <p:spPr>
          <a:xfrm>
            <a:off x="6426200" y="3794522"/>
            <a:ext cx="483997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Ciclo de aprendizado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26200" y="4129782"/>
            <a:ext cx="4839970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cada tarefa, consolida o que aprendeu e confirma padrões com o dono.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49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4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POSICIONAMENTO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Onde nos posicionamos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95401"/>
          <a:ext cx="10553700" cy="3286224"/>
        </p:xfrm>
        <a:graphic>
          <a:graphicData uri="http://schemas.openxmlformats.org/drawingml/2006/table">
            <a:tbl>
              <a:tblPr/>
              <a:tblGrid>
                <a:gridCol w="2532888"/>
                <a:gridCol w="1899666"/>
                <a:gridCol w="2110740"/>
                <a:gridCol w="2110740"/>
                <a:gridCol w="1899666"/>
              </a:tblGrid>
              <a:tr h="4723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Alternativa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Custo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Executa tarefas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Conhece o negócio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Melhora com o uso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1F"/>
                    </a:solidFill>
                  </a:tcPr>
                </a:tc>
              </a:tr>
              <a:tr h="70346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Recepcionista contratada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Alto: salário e encargos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Sim, com o tempo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</a:tr>
              <a:tr h="70346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Chatbot de WhatsApp por fluxos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Baixo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Só o que foi programado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Não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Não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</a:tr>
              <a:tr h="70346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Assistente de IA genérico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Baixo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Pouco: sem integrações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Pouco: sem continuidade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Parcialmente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</a:tr>
              <a:tr h="70346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Pode Deixar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[R$ __/mês]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ABB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Sim, dentro de limites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ABB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Sim, com perfis estruturados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ABB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Sim, a cada tarefa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114300" marB="114300" anchor="t">
                    <a:lnL w="12700" cap="flat" cmpd="sng" algn="ctr">
                      <a:solidFill>
                        <a:srgbClr val="ABB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BB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BBB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AD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94837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Comparação qualitativa — avaliação da equipe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4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MODELO DE NEGÓCIO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81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Assinatura mensal, custo de software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2187476"/>
            <a:ext cx="3384550" cy="1982192"/>
          </a:xfrm>
          <a:prstGeom prst="roundRect">
            <a:avLst>
              <a:gd name="adj" fmla="val 4965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" y="2470051"/>
            <a:ext cx="29039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7D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8550" y="2784971"/>
            <a:ext cx="290398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02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[R$ __]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98550" y="3389412"/>
            <a:ext cx="290398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assinatura mensal por empresa, com planos por volume de uso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10075" y="2187476"/>
            <a:ext cx="3384550" cy="1982192"/>
          </a:xfrm>
          <a:prstGeom prst="roundRect">
            <a:avLst>
              <a:gd name="adj" fmla="val 4965"/>
            </a:avLst>
          </a:prstGeom>
          <a:solidFill>
            <a:srgbClr val="FFFCF6"/>
          </a:solidFill>
          <a:ln w="6350">
            <a:solidFill>
              <a:srgbClr val="E2DBC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2650" y="2470051"/>
            <a:ext cx="29039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2E7D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POR CLIENTE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92650" y="2784971"/>
            <a:ext cx="290398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02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[R$ __]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92650" y="3389412"/>
            <a:ext cx="290398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modelo de IA, infraestrutura, API do WhatsApp e telefonia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01000" y="2184301"/>
            <a:ext cx="3378200" cy="1988542"/>
          </a:xfrm>
          <a:prstGeom prst="roundRect">
            <a:avLst>
              <a:gd name="adj" fmla="val 5109"/>
            </a:avLst>
          </a:prstGeom>
          <a:solidFill>
            <a:srgbClr val="10241F"/>
          </a:solidFill>
          <a:ln/>
        </p:spPr>
      </p:sp>
      <p:sp>
        <p:nvSpPr>
          <p:cNvPr id="13" name="Text 11"/>
          <p:cNvSpPr/>
          <p:nvPr/>
        </p:nvSpPr>
        <p:spPr>
          <a:xfrm>
            <a:off x="8280400" y="2463701"/>
            <a:ext cx="29039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F08A5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REFERÊNCIA DE VALOR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80400" y="2778621"/>
            <a:ext cx="290398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5F2E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R$ 1.898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280400" y="3383062"/>
            <a:ext cx="290398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salário médio mensal de uma recepcionista, antes de encargos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528443"/>
            <a:ext cx="104648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Receitas complementares a validar: </a:t>
            </a:r>
            <a:r>
              <a:rPr lang="en-US" sz="15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implantação assistida</a:t>
            </a:r>
            <a:r>
              <a:rPr lang="en-US" sz="15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</a:t>
            </a:r>
            <a:r>
              <a:rPr lang="en-US" sz="15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integrações sob medida</a:t>
            </a:r>
            <a:r>
              <a:rPr lang="en-US" sz="1500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 negócios com sistemas próprios.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94837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entre colchetes a definir no piloto · Referência: Novo CAGED (out/2026), via Salario.com.br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4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RISCOS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055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Riscos mapeados e como tratamos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44601"/>
          <a:ext cx="10553700" cy="2681883"/>
        </p:xfrm>
        <a:graphic>
          <a:graphicData uri="http://schemas.openxmlformats.org/drawingml/2006/table">
            <a:tbl>
              <a:tblPr/>
              <a:tblGrid>
                <a:gridCol w="2743962"/>
                <a:gridCol w="7809738"/>
              </a:tblGrid>
              <a:tr h="4469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Risco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100" marR="165100" marT="101600" marB="1016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5F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Mitigação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100" marR="165100" marT="101600" marB="101600" anchor="t">
                    <a:lnL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1F"/>
                    </a:solidFill>
                  </a:tcPr>
                </a:tc>
              </a:tr>
              <a:tr h="4469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Canal (WhatsApp)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100" marR="165100" marT="101600" marB="1016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Número dedicado e adoção da API oficial do WhatsApp Business no uso comercial.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100" marR="165100" marT="101600" marB="101600" anchor="t">
                    <a:lnL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20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</a:tr>
              <a:tr h="4469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Pagamentos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100" marR="165100" marT="101600" marB="1016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Cartão nunca exposto à IA: meio de pagamento com limite por compra, limite diário e registro.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100" marR="165100" marT="101600" marB="1016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</a:tr>
              <a:tr h="4469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Privacidade (LGPD)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100" marR="165100" marT="101600" marB="1016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Dados isolados por empresa, regras de exclusão de captura e trilha de auditoria.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100" marR="165100" marT="101600" marB="101600" anchor="t">
                    <a:lnL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</a:tr>
              <a:tr h="4469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Dependência de open source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100" marR="165100" marT="101600" marB="1016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Versões fixadas, testes antes de cada atualização e camada própria desacoplada.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100" marR="165100" marT="101600" marB="1016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A"/>
                    </a:solidFill>
                  </a:tcPr>
                </a:tc>
              </a:tr>
              <a:tr h="44698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Disponibilidade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100" marR="165100" marT="101600" marB="101600" anchor="t">
                    <a:lnL w="12700" cap="flat" cmpd="sng" algn="ctr">
                      <a:solidFill>
                        <a:srgbClr val="BCB8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0241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Piloto em máquina local; produção em nuvem, com monitoramento e backup.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65100" marR="165100" marT="101600" marB="101600" anchor="t">
                    <a:lnL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9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A94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PLANO DE EXECUÇÃO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309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0241F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Do protótipo ao lançamento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82701"/>
            <a:ext cx="3420467" cy="2354759"/>
          </a:xfrm>
          <a:prstGeom prst="roundRect">
            <a:avLst>
              <a:gd name="adj" fmla="val 4315"/>
            </a:avLst>
          </a:prstGeom>
          <a:solidFill>
            <a:srgbClr val="FFFCF6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082701"/>
            <a:ext cx="3420467" cy="2354759"/>
          </a:xfrm>
          <a:custGeom>
            <a:avLst/>
            <a:gdLst/>
            <a:ahLst/>
            <a:cxnLst/>
            <a:rect l="l" t="t" r="r" b="b"/>
            <a:pathLst>
              <a:path w="3420467" h="2354759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867" y="0"/>
                </a:lnTo>
                <a:arcTo hR="101600" wR="101600" stAng="16200000" swAng="5400000"/>
                <a:lnTo>
                  <a:pt x="3420467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2E7D6B"/>
          </a:solidFill>
          <a:ln/>
        </p:spPr>
      </p:sp>
      <p:sp>
        <p:nvSpPr>
          <p:cNvPr id="6" name="Text 4"/>
          <p:cNvSpPr/>
          <p:nvPr/>
        </p:nvSpPr>
        <p:spPr>
          <a:xfrm>
            <a:off x="1041400" y="2362101"/>
            <a:ext cx="30521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E7D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Fase 1 · [__ semanas]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1400" y="2664321"/>
            <a:ext cx="3052165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Protótipo interno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33094" y="3012281"/>
            <a:ext cx="2952851" cy="1221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306" indent="-16230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OpenClaw com WhatsApp em número dedicado</a:t>
            </a:r>
            <a:endParaRPr lang="en-US" sz="1300" dirty="0"/>
          </a:p>
          <a:p>
            <a:pPr algn="l" marL="162306" indent="-16230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Integração com o ai-memory</a:t>
            </a:r>
            <a:endParaRPr lang="en-US" sz="1300" dirty="0"/>
          </a:p>
          <a:p>
            <a:pPr algn="l" marL="162306" indent="-16230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Primeira versão do onboarding e do motor de contexto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5667" y="2082701"/>
            <a:ext cx="3420566" cy="2354759"/>
          </a:xfrm>
          <a:prstGeom prst="roundRect">
            <a:avLst>
              <a:gd name="adj" fmla="val 4315"/>
            </a:avLst>
          </a:prstGeom>
          <a:solidFill>
            <a:srgbClr val="FFFCF6"/>
          </a:solidFill>
          <a:ln/>
        </p:spPr>
      </p:sp>
      <p:sp>
        <p:nvSpPr>
          <p:cNvPr id="10" name="Shape 8"/>
          <p:cNvSpPr/>
          <p:nvPr/>
        </p:nvSpPr>
        <p:spPr>
          <a:xfrm>
            <a:off x="4385667" y="2082701"/>
            <a:ext cx="3420566" cy="2354759"/>
          </a:xfrm>
          <a:custGeom>
            <a:avLst/>
            <a:gdLst/>
            <a:ahLst/>
            <a:cxnLst/>
            <a:rect l="l" t="t" r="r" b="b"/>
            <a:pathLst>
              <a:path w="3420566" h="2354759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66" y="0"/>
                </a:lnTo>
                <a:arcTo hR="101600" wR="101600" stAng="16200000" swAng="5400000"/>
                <a:lnTo>
                  <a:pt x="3420566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A9441F"/>
          </a:solidFill>
          <a:ln/>
        </p:spPr>
      </p:sp>
      <p:sp>
        <p:nvSpPr>
          <p:cNvPr id="11" name="Text 9"/>
          <p:cNvSpPr/>
          <p:nvPr/>
        </p:nvSpPr>
        <p:spPr>
          <a:xfrm>
            <a:off x="4614267" y="2362101"/>
            <a:ext cx="3052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94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Fase 2 · [__ semanas]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4267" y="2664321"/>
            <a:ext cx="305226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Piloto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05961" y="3012281"/>
            <a:ext cx="2952953" cy="9826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306" indent="-16230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[3] negócios de um único nicho</a:t>
            </a:r>
            <a:endParaRPr lang="en-US" sz="1300" dirty="0"/>
          </a:p>
          <a:p>
            <a:pPr algn="l" marL="162306" indent="-16230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Uso real, acompanhado de perto</a:t>
            </a:r>
            <a:endParaRPr lang="en-US" sz="1300" dirty="0"/>
          </a:p>
          <a:p>
            <a:pPr algn="l" marL="162306" indent="-16230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Métricas: tarefas sem intervenção, perguntas por tarefa, retenção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8634" y="2082701"/>
            <a:ext cx="3420566" cy="2354759"/>
          </a:xfrm>
          <a:prstGeom prst="roundRect">
            <a:avLst>
              <a:gd name="adj" fmla="val 4315"/>
            </a:avLst>
          </a:prstGeom>
          <a:solidFill>
            <a:srgbClr val="FFFCF6"/>
          </a:solidFill>
          <a:ln/>
        </p:spPr>
      </p:sp>
      <p:sp>
        <p:nvSpPr>
          <p:cNvPr id="15" name="Shape 13"/>
          <p:cNvSpPr/>
          <p:nvPr/>
        </p:nvSpPr>
        <p:spPr>
          <a:xfrm>
            <a:off x="7958634" y="2082701"/>
            <a:ext cx="3420566" cy="2354759"/>
          </a:xfrm>
          <a:custGeom>
            <a:avLst/>
            <a:gdLst/>
            <a:ahLst/>
            <a:cxnLst/>
            <a:rect l="l" t="t" r="r" b="b"/>
            <a:pathLst>
              <a:path w="3420566" h="2354759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18966" y="0"/>
                </a:lnTo>
                <a:arcTo hR="101600" wR="101600" stAng="16200000" swAng="5400000"/>
                <a:lnTo>
                  <a:pt x="3420566" y="101600"/>
                </a:lnTo>
                <a:arcTo hR="50800" wR="101600" stAng="0" swAng="-5400000"/>
                <a:lnTo>
                  <a:pt x="101600" y="50800"/>
                </a:lnTo>
                <a:arcTo hR="50800" wR="101600" stAng="16200000" swAng="-5400000"/>
                <a:close/>
              </a:path>
            </a:pathLst>
          </a:custGeom>
          <a:solidFill>
            <a:srgbClr val="10241F"/>
          </a:solidFill>
          <a:ln/>
        </p:spPr>
      </p:sp>
      <p:sp>
        <p:nvSpPr>
          <p:cNvPr id="16" name="Text 14"/>
          <p:cNvSpPr/>
          <p:nvPr/>
        </p:nvSpPr>
        <p:spPr>
          <a:xfrm>
            <a:off x="8187234" y="2362101"/>
            <a:ext cx="305226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Fase 3 · [data]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87234" y="2664321"/>
            <a:ext cx="305226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241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Lançamento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78928" y="3012281"/>
            <a:ext cx="2952953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306" indent="-16230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Preço validado com os pilotos</a:t>
            </a:r>
            <a:endParaRPr lang="en-US" sz="1300" dirty="0"/>
          </a:p>
          <a:p>
            <a:pPr algn="l" marL="162306" indent="-16230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Hospedagem em nuvem</a:t>
            </a:r>
            <a:endParaRPr lang="en-US" sz="1300" dirty="0"/>
          </a:p>
          <a:p>
            <a:pPr algn="l" marL="162306" indent="-162306">
              <a:lnSpc>
                <a:spcPts val="1885"/>
              </a:lnSpc>
              <a:buSzPct val="100000"/>
              <a:buChar char="•"/>
            </a:pPr>
            <a:r>
              <a:rPr lang="en-US" sz="1300" dirty="0">
                <a:solidFill>
                  <a:srgbClr val="44524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Processo de implantação replicável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E6B6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08A5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PRÓXIMO PASSO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3055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5F2EA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Quatro decisões para esta reunião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31901"/>
            <a:ext cx="10566400" cy="827980"/>
          </a:xfrm>
          <a:prstGeom prst="roundRect">
            <a:avLst>
              <a:gd name="adj" fmla="val 12271"/>
            </a:avLst>
          </a:prstGeom>
          <a:solidFill>
            <a:srgbClr val="1C3A33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232521"/>
            <a:ext cx="45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08A5D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51000" y="2184301"/>
            <a:ext cx="97845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Nicho do piloto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51000" y="2476401"/>
            <a:ext cx="97845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[Clínicas, oficinas, salões ou comércio]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12800" y="2961481"/>
            <a:ext cx="10566400" cy="827980"/>
          </a:xfrm>
          <a:prstGeom prst="roundRect">
            <a:avLst>
              <a:gd name="adj" fmla="val 12271"/>
            </a:avLst>
          </a:prstGeom>
          <a:solidFill>
            <a:srgbClr val="1C3A33"/>
          </a:solidFill>
          <a:ln/>
        </p:spPr>
      </p:sp>
      <p:sp>
        <p:nvSpPr>
          <p:cNvPr id="9" name="Text 7"/>
          <p:cNvSpPr/>
          <p:nvPr/>
        </p:nvSpPr>
        <p:spPr>
          <a:xfrm>
            <a:off x="1041400" y="3162102"/>
            <a:ext cx="45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08A5D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651000" y="3113881"/>
            <a:ext cx="97845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Faixa de preço inicial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51000" y="3405981"/>
            <a:ext cx="97845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[R$ __ a R$ __ por mês]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800" y="3891062"/>
            <a:ext cx="10566400" cy="827980"/>
          </a:xfrm>
          <a:prstGeom prst="roundRect">
            <a:avLst>
              <a:gd name="adj" fmla="val 12271"/>
            </a:avLst>
          </a:prstGeom>
          <a:solidFill>
            <a:srgbClr val="1C3A33"/>
          </a:solidFill>
          <a:ln/>
        </p:spPr>
      </p:sp>
      <p:sp>
        <p:nvSpPr>
          <p:cNvPr id="13" name="Text 11"/>
          <p:cNvSpPr/>
          <p:nvPr/>
        </p:nvSpPr>
        <p:spPr>
          <a:xfrm>
            <a:off x="1041400" y="4091682"/>
            <a:ext cx="45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08A5D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51000" y="4043462"/>
            <a:ext cx="97845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Investimento e responsáveis até o piloto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51000" y="4335562"/>
            <a:ext cx="97845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[R$ __] · [nomes e papéis]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4820642"/>
            <a:ext cx="10566400" cy="827980"/>
          </a:xfrm>
          <a:prstGeom prst="roundRect">
            <a:avLst>
              <a:gd name="adj" fmla="val 12271"/>
            </a:avLst>
          </a:prstGeom>
          <a:solidFill>
            <a:srgbClr val="1C3A33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00" y="5021263"/>
            <a:ext cx="4572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08A5D"/>
                </a:solidFill>
                <a:latin typeface="Fraunces" pitchFamily="18" charset="0"/>
                <a:ea typeface="Fraunces" pitchFamily="18" charset="-122"/>
                <a:cs typeface="Fraunces" pitchFamily="18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651000" y="4973042"/>
            <a:ext cx="978458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Canal de voz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51000" y="5265142"/>
            <a:ext cx="97845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9C8C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Proposta: áudio pelo WhatsApp na primeira fase; ligação em tempo real depois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93400" y="623828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49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de Deixar — Proposta">
  <a:themeElements>
    <a:clrScheme name="Pode Deixar — Proposta">
      <a:dk1>
        <a:srgbClr val="10241F"/>
      </a:dk1>
      <a:lt1>
        <a:srgbClr val="F5F2EA"/>
      </a:lt1>
      <a:dk2>
        <a:srgbClr val="495852"/>
      </a:dk2>
      <a:lt2>
        <a:srgbClr val="DEDDD6"/>
      </a:lt2>
      <a:accent1>
        <a:srgbClr val="A9441F"/>
      </a:accent1>
      <a:accent2>
        <a:srgbClr val="F08A5D"/>
      </a:accent2>
      <a:accent3>
        <a:srgbClr val="2E7D6B"/>
      </a:accent3>
      <a:accent4>
        <a:srgbClr val="FFD9C2"/>
      </a:accent4>
      <a:accent5>
        <a:srgbClr val="C2532B"/>
      </a:accent5>
      <a:accent6>
        <a:srgbClr val="8A3517"/>
      </a:accent6>
      <a:hlink>
        <a:srgbClr val="0563C1"/>
      </a:hlink>
      <a:folHlink>
        <a:srgbClr val="954F72"/>
      </a:folHlink>
    </a:clrScheme>
    <a:fontScheme name="Pode Deixar — Proposta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Pode Deixar — Proposta</dc:title>
  <dc:subject/>
  <dc:creator/>
  <cp:lastModifiedBy/>
  <cp:revision>1</cp:revision>
  <dcterms:created xsi:type="dcterms:W3CDTF">2026-10-17T03:30:16Z</dcterms:created>
  <dcterms:modified xsi:type="dcterms:W3CDTF">2026-10-17T03:30:16Z</dcterms:modified>
</cp:coreProperties>
</file>